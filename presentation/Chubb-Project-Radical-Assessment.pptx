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D29CBF-CB60-DEDA-75CE-3D6659BE02E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FF78B82-E4BB-21E8-A989-52FF3B3F5CD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DA39850-9AE2-8BB3-94EB-ACBB293196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D58350-DE90-461E-86E4-DE544120961B}" type="datetimeFigureOut">
              <a:rPr lang="en-IN" smtClean="0"/>
              <a:t>10-06-2026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123D12-9DE9-527C-DC3B-1D4D40FBF4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1C46B53-A7C9-9014-E5D6-CD09008A77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30EA1D-200B-4642-AF79-4336F1D330A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8404505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52BB55-236C-C1DF-34F3-EBAD997700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0FB13A-ABDD-622C-B1E7-AB8E1163FAF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916EAFE-FFD7-CFB9-49A2-506D3488C0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D58350-DE90-461E-86E4-DE544120961B}" type="datetimeFigureOut">
              <a:rPr lang="en-IN" smtClean="0"/>
              <a:t>10-06-2026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2CFCF91-60DC-784A-7C90-000FE63306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BC9BD6C-DB2C-2DF3-E856-E5D52CB64B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30EA1D-200B-4642-AF79-4336F1D330A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8613720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163B39-221D-70C1-8CE1-96F4D1D2A6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3978DB1-C0CD-D7D5-E75B-B248F475565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4593ECD-CDA9-52E0-A726-5A1B0FD1A7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D58350-DE90-461E-86E4-DE544120961B}" type="datetimeFigureOut">
              <a:rPr lang="en-IN" smtClean="0"/>
              <a:t>10-06-2026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D5F0394-F19B-54C1-777B-2A7E3F433B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2DF2495-69C4-6F9B-660E-E986867041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30EA1D-200B-4642-AF79-4336F1D330A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2832184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05470E-6148-3FFF-7167-1E4929B27B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0B6C04-67F2-F8FD-DBA5-2C06109FF3C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B5FE731-C49C-1E39-73EC-7B7C3653D48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985372F-7A2C-2C04-ADE7-B7410B3432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D58350-DE90-461E-86E4-DE544120961B}" type="datetimeFigureOut">
              <a:rPr lang="en-IN" smtClean="0"/>
              <a:t>10-06-2026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50A3F78-598F-E6DA-AF29-0603C9C91A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2AF95AE-2D0E-17EC-D7B0-628BD0CC11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30EA1D-200B-4642-AF79-4336F1D330A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2623525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79C325-8869-B1B6-D43A-A23979A270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1BD30D2-3872-A2F7-2A14-07CCE307CD0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CB7E223-1235-4C3B-8DED-C4952A625B4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3E72B2F-4CE1-2B54-19CA-9E8DA051314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FC35576-BC4D-5770-B165-27F63DAC799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1BFA608-16FD-859D-E595-C631B06E98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D58350-DE90-461E-86E4-DE544120961B}" type="datetimeFigureOut">
              <a:rPr lang="en-IN" smtClean="0"/>
              <a:t>10-06-2026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0C79CF2-DB12-6A09-6029-35E0A321B6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0401113-5B6B-DE0E-2BE7-3D53AE97AD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30EA1D-200B-4642-AF79-4336F1D330A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2665979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8B5826-35FA-6AA3-67F8-9A11DFE170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1480E6F-0AE3-5D3A-4580-C961DEECA0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D58350-DE90-461E-86E4-DE544120961B}" type="datetimeFigureOut">
              <a:rPr lang="en-IN" smtClean="0"/>
              <a:t>10-06-2026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CECC64A-D32E-00DB-8BC0-4F2309B4D1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F72CD99-CB74-410E-FF16-5F69A9FD23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30EA1D-200B-4642-AF79-4336F1D330A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3981497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BF6D50A-E0BD-337A-1E95-210D1457B7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D58350-DE90-461E-86E4-DE544120961B}" type="datetimeFigureOut">
              <a:rPr lang="en-IN" smtClean="0"/>
              <a:t>10-06-2026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E86945F-F56F-BB5B-72C8-7C4DDE259D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5501AD9-274C-10A9-0FC8-A5CB251063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30EA1D-200B-4642-AF79-4336F1D330A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740913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1016B7-3715-D0C9-64D5-26CEEA9BC7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AF8CBB-A050-7CAE-B675-841141BD35B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ABB57E2-519A-8B26-B629-24008956CEB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956A8DC-70A3-12BD-B0BF-98BCE08968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D58350-DE90-461E-86E4-DE544120961B}" type="datetimeFigureOut">
              <a:rPr lang="en-IN" smtClean="0"/>
              <a:t>10-06-2026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4C18F29-1F57-45B9-9E69-DCC4C5ECFB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C14D09E-D288-9232-23B1-5BE203E480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30EA1D-200B-4642-AF79-4336F1D330A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1400881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7DDD1B-B2AF-F541-9BDF-2642BD6882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76EDE55-20FA-2373-ABDB-7112FF31F29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A0CEBB1-D36F-8810-CB42-370209A5A9C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45B247E-FB78-E021-CCFE-5134FA38B3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D58350-DE90-461E-86E4-DE544120961B}" type="datetimeFigureOut">
              <a:rPr lang="en-IN" smtClean="0"/>
              <a:t>10-06-2026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605A04A-9DE5-F5E4-C88B-96B403FA91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F07A3ED-2618-ED19-96C8-3200BE4C09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30EA1D-200B-4642-AF79-4336F1D330A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779738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94D7CF-BC3A-38E6-4C03-780C28086B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57B0539-356C-4D71-FBD3-4A2476C7A84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D5FDBBC-9A9D-DF8A-0807-6CB52668ED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D58350-DE90-461E-86E4-DE544120961B}" type="datetimeFigureOut">
              <a:rPr lang="en-IN" smtClean="0"/>
              <a:t>10-06-2026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DFDDA7D-CDFE-3341-12E0-53355C6957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A117405-3E12-CB42-D99D-F70C3733D6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30EA1D-200B-4642-AF79-4336F1D330A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6691619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C0C9D8F-70F1-395F-D603-EDEA6A62A44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D1CA732-6A57-8CB9-4B93-5A113CBD27D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941000-8CE0-73E4-06F7-3EDF0C562E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D58350-DE90-461E-86E4-DE544120961B}" type="datetimeFigureOut">
              <a:rPr lang="en-IN" smtClean="0"/>
              <a:t>10-06-2026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68D37E6-BCB4-D910-A561-D8956AADE8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0413620-3507-9432-9930-3FC1C41623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30EA1D-200B-4642-AF79-4336F1D330A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8835152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D63BEE4-EF73-3BC7-CCFD-01C18625B7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6DBB08F-744B-F15B-24DC-A26BCEB6B22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82AAD5B-83F5-EF6F-76AE-CDAE0E13EF5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DD58350-DE90-461E-86E4-DE544120961B}" type="datetimeFigureOut">
              <a:rPr lang="en-IN" smtClean="0"/>
              <a:t>10-06-2026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746643E-79CC-8AFF-4C39-18BE8E5BD62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D93E91-1C37-6411-A075-F8EC4D2132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C30EA1D-200B-4642-AF79-4336F1D330A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357096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FF2C2FC5-0731-344C-3BD7-485BAC931C6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rgbClr val="5E2D91"/>
              </a:gs>
              <a:gs pos="100000">
                <a:srgbClr val="FFFFFF"/>
              </a:gs>
            </a:gsLst>
            <a:lin ang="5400000" scaled="1"/>
            <a:tileRect/>
          </a:gra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4FC50A2-FF7C-0D93-1A7D-73BCCF711AE5}"/>
              </a:ext>
            </a:extLst>
          </p:cNvPr>
          <p:cNvSpPr txBox="1"/>
          <p:nvPr/>
        </p:nvSpPr>
        <p:spPr>
          <a:xfrm>
            <a:off x="711200" y="508000"/>
            <a:ext cx="6350000" cy="369332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IN" b="1">
                <a:solidFill>
                  <a:srgbClr val="FFFFFF"/>
                </a:solidFill>
                <a:latin typeface="Segoe UI" panose="020B0502040204020203" pitchFamily="34" charset="0"/>
              </a:rPr>
              <a:t>HCLTech  |  Supercharging Progress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FC2D52E-DB02-5AF9-FF35-A6CE51CD7E6A}"/>
              </a:ext>
            </a:extLst>
          </p:cNvPr>
          <p:cNvSpPr txBox="1"/>
          <p:nvPr/>
        </p:nvSpPr>
        <p:spPr>
          <a:xfrm>
            <a:off x="711200" y="2540000"/>
            <a:ext cx="8890000" cy="707886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IN" sz="4000" b="1">
                <a:solidFill>
                  <a:srgbClr val="FFFFFF"/>
                </a:solidFill>
                <a:latin typeface="Segoe UI" panose="020B0502040204020203" pitchFamily="34" charset="0"/>
              </a:rPr>
              <a:t>Chubb - Project Radical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0BDDED8-578F-77F9-C63A-A0BCFE4BD299}"/>
              </a:ext>
            </a:extLst>
          </p:cNvPr>
          <p:cNvSpPr txBox="1"/>
          <p:nvPr/>
        </p:nvSpPr>
        <p:spPr>
          <a:xfrm>
            <a:off x="711200" y="3429000"/>
            <a:ext cx="8890000" cy="40011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IN" sz="2000" b="1">
                <a:solidFill>
                  <a:srgbClr val="FFFFFF"/>
                </a:solidFill>
                <a:latin typeface="Segoe UI" panose="020B0502040204020203" pitchFamily="34" charset="0"/>
              </a:rPr>
              <a:t>Take-home Assessment Submission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DE2352E-501C-745B-3F6C-5D0C7B3DED04}"/>
              </a:ext>
            </a:extLst>
          </p:cNvPr>
          <p:cNvSpPr txBox="1"/>
          <p:nvPr/>
        </p:nvSpPr>
        <p:spPr>
          <a:xfrm>
            <a:off x="711200" y="4191000"/>
            <a:ext cx="8890000" cy="369332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IN">
                <a:solidFill>
                  <a:srgbClr val="E9E4F5"/>
                </a:solidFill>
                <a:latin typeface="Segoe UI" panose="020B0502040204020203" pitchFamily="34" charset="0"/>
              </a:rPr>
              <a:t>chubb-insurance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7E6C9E8-CC4E-666D-5B51-1F271ADF1C77}"/>
              </a:ext>
            </a:extLst>
          </p:cNvPr>
          <p:cNvSpPr txBox="1"/>
          <p:nvPr/>
        </p:nvSpPr>
        <p:spPr>
          <a:xfrm>
            <a:off x="711200" y="4699000"/>
            <a:ext cx="8890000" cy="369332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IN">
                <a:solidFill>
                  <a:srgbClr val="E9E4F5"/>
                </a:solidFill>
                <a:latin typeface="Segoe UI" panose="020B0502040204020203" pitchFamily="34" charset="0"/>
              </a:rPr>
              <a:t>By nagarani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E2A145F-F272-32AA-DB42-46B3160A3E91}"/>
              </a:ext>
            </a:extLst>
          </p:cNvPr>
          <p:cNvSpPr txBox="1"/>
          <p:nvPr/>
        </p:nvSpPr>
        <p:spPr>
          <a:xfrm>
            <a:off x="8890000" y="6286500"/>
            <a:ext cx="2667000" cy="307777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r"/>
            <a:r>
              <a:rPr lang="en-IN" sz="1400">
                <a:solidFill>
                  <a:srgbClr val="FFFFFF"/>
                </a:solidFill>
                <a:latin typeface="Segoe UI" panose="020B0502040204020203" pitchFamily="34" charset="0"/>
              </a:rPr>
              <a:t>Jun 10, 2026</a:t>
            </a:r>
          </a:p>
        </p:txBody>
      </p:sp>
    </p:spTree>
    <p:extLst>
      <p:ext uri="{BB962C8B-B14F-4D97-AF65-F5344CB8AC3E}">
        <p14:creationId xmlns:p14="http://schemas.microsoft.com/office/powerpoint/2010/main" val="199444971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2F43799-FAFF-214C-8B8F-F2B8E37D5450}"/>
              </a:ext>
            </a:extLst>
          </p:cNvPr>
          <p:cNvSpPr txBox="1"/>
          <p:nvPr/>
        </p:nvSpPr>
        <p:spPr>
          <a:xfrm>
            <a:off x="711200" y="508000"/>
            <a:ext cx="7620000" cy="584775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IN" sz="3200" b="1">
                <a:solidFill>
                  <a:srgbClr val="662D91"/>
                </a:solidFill>
                <a:latin typeface="Segoe UI" panose="020B0502040204020203" pitchFamily="34" charset="0"/>
              </a:rPr>
              <a:t>Agenda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73593D1-8D72-E152-A713-068B3A33FE50}"/>
              </a:ext>
            </a:extLst>
          </p:cNvPr>
          <p:cNvSpPr txBox="1"/>
          <p:nvPr/>
        </p:nvSpPr>
        <p:spPr>
          <a:xfrm>
            <a:off x="889000" y="1651000"/>
            <a:ext cx="635000" cy="369332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IN" b="1">
                <a:solidFill>
                  <a:srgbClr val="662D91"/>
                </a:solidFill>
                <a:latin typeface="Segoe UI" panose="020B0502040204020203" pitchFamily="34" charset="0"/>
              </a:rPr>
              <a:t>1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0B02CB1-C44D-CE6F-8E6D-9F3CC05CD457}"/>
              </a:ext>
            </a:extLst>
          </p:cNvPr>
          <p:cNvSpPr txBox="1"/>
          <p:nvPr/>
        </p:nvSpPr>
        <p:spPr>
          <a:xfrm>
            <a:off x="1651000" y="1651000"/>
            <a:ext cx="9652000" cy="369332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IN" b="1">
                <a:solidFill>
                  <a:srgbClr val="212121"/>
                </a:solidFill>
                <a:latin typeface="Segoe UI" panose="020B0502040204020203" pitchFamily="34" charset="0"/>
              </a:rPr>
              <a:t>Architecture Design &amp; Decisions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7C4321B-62BB-5584-4065-39CDB1B24C23}"/>
              </a:ext>
            </a:extLst>
          </p:cNvPr>
          <p:cNvSpPr/>
          <p:nvPr/>
        </p:nvSpPr>
        <p:spPr>
          <a:xfrm>
            <a:off x="711200" y="2387600"/>
            <a:ext cx="10795000" cy="584200"/>
          </a:xfrm>
          <a:prstGeom prst="rect">
            <a:avLst/>
          </a:prstGeom>
          <a:solidFill>
            <a:srgbClr val="E9E4F5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D5CE024-3D08-3CAB-F5D8-243308D56A91}"/>
              </a:ext>
            </a:extLst>
          </p:cNvPr>
          <p:cNvSpPr txBox="1"/>
          <p:nvPr/>
        </p:nvSpPr>
        <p:spPr>
          <a:xfrm>
            <a:off x="889000" y="2463800"/>
            <a:ext cx="635000" cy="369332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IN" b="1">
                <a:solidFill>
                  <a:srgbClr val="662D91"/>
                </a:solidFill>
                <a:latin typeface="Segoe UI" panose="020B0502040204020203" pitchFamily="34" charset="0"/>
              </a:rPr>
              <a:t>2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E526E24-6FFE-BC33-3AFB-8A94444D741A}"/>
              </a:ext>
            </a:extLst>
          </p:cNvPr>
          <p:cNvSpPr txBox="1"/>
          <p:nvPr/>
        </p:nvSpPr>
        <p:spPr>
          <a:xfrm>
            <a:off x="1651000" y="2463800"/>
            <a:ext cx="9652000" cy="369332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IN" b="1">
                <a:solidFill>
                  <a:srgbClr val="212121"/>
                </a:solidFill>
                <a:latin typeface="Segoe UI" panose="020B0502040204020203" pitchFamily="34" charset="0"/>
              </a:rPr>
              <a:t>GIT details &amp; working platform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50CB0DD-E31D-910C-D0CD-2D70FBB57C52}"/>
              </a:ext>
            </a:extLst>
          </p:cNvPr>
          <p:cNvSpPr txBox="1"/>
          <p:nvPr/>
        </p:nvSpPr>
        <p:spPr>
          <a:xfrm>
            <a:off x="889000" y="3276600"/>
            <a:ext cx="635000" cy="369332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IN" b="1">
                <a:solidFill>
                  <a:srgbClr val="662D91"/>
                </a:solidFill>
                <a:latin typeface="Segoe UI" panose="020B0502040204020203" pitchFamily="34" charset="0"/>
              </a:rPr>
              <a:t>3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03481E6-4BD0-7631-16AF-E47AECD62CD1}"/>
              </a:ext>
            </a:extLst>
          </p:cNvPr>
          <p:cNvSpPr txBox="1"/>
          <p:nvPr/>
        </p:nvSpPr>
        <p:spPr>
          <a:xfrm>
            <a:off x="1651000" y="3276600"/>
            <a:ext cx="9652000" cy="369332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IN" b="1">
                <a:solidFill>
                  <a:srgbClr val="212121"/>
                </a:solidFill>
                <a:latin typeface="Segoe UI" panose="020B0502040204020203" pitchFamily="34" charset="0"/>
              </a:rPr>
              <a:t>API Specification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55ED5D4-7A11-110D-745B-905BD8D16B54}"/>
              </a:ext>
            </a:extLst>
          </p:cNvPr>
          <p:cNvSpPr/>
          <p:nvPr/>
        </p:nvSpPr>
        <p:spPr>
          <a:xfrm>
            <a:off x="711200" y="4013200"/>
            <a:ext cx="10795000" cy="584200"/>
          </a:xfrm>
          <a:prstGeom prst="rect">
            <a:avLst/>
          </a:prstGeom>
          <a:solidFill>
            <a:srgbClr val="E9E4F5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95A755E-DF39-08C9-FF3A-377FCF833AB3}"/>
              </a:ext>
            </a:extLst>
          </p:cNvPr>
          <p:cNvSpPr txBox="1"/>
          <p:nvPr/>
        </p:nvSpPr>
        <p:spPr>
          <a:xfrm>
            <a:off x="889000" y="4089400"/>
            <a:ext cx="635000" cy="369332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IN" b="1">
                <a:solidFill>
                  <a:srgbClr val="662D91"/>
                </a:solidFill>
                <a:latin typeface="Segoe UI" panose="020B0502040204020203" pitchFamily="34" charset="0"/>
              </a:rPr>
              <a:t>4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F8B83BE-26BA-24AE-27EC-6AF431C2942C}"/>
              </a:ext>
            </a:extLst>
          </p:cNvPr>
          <p:cNvSpPr txBox="1"/>
          <p:nvPr/>
        </p:nvSpPr>
        <p:spPr>
          <a:xfrm>
            <a:off x="1651000" y="4089400"/>
            <a:ext cx="9652000" cy="369332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IN" b="1">
                <a:solidFill>
                  <a:srgbClr val="212121"/>
                </a:solidFill>
                <a:latin typeface="Segoe UI" panose="020B0502040204020203" pitchFamily="34" charset="0"/>
              </a:rPr>
              <a:t>AI Working Journal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DD08895-DC70-63BB-DDDC-CD626AC38CDE}"/>
              </a:ext>
            </a:extLst>
          </p:cNvPr>
          <p:cNvSpPr txBox="1"/>
          <p:nvPr/>
        </p:nvSpPr>
        <p:spPr>
          <a:xfrm>
            <a:off x="889000" y="4902200"/>
            <a:ext cx="635000" cy="369332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IN" b="1">
                <a:solidFill>
                  <a:srgbClr val="662D91"/>
                </a:solidFill>
                <a:latin typeface="Segoe UI" panose="020B0502040204020203" pitchFamily="34" charset="0"/>
              </a:rPr>
              <a:t>5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5577B25-C6F5-FC2F-6093-74EAE7DAEC41}"/>
              </a:ext>
            </a:extLst>
          </p:cNvPr>
          <p:cNvSpPr txBox="1"/>
          <p:nvPr/>
        </p:nvSpPr>
        <p:spPr>
          <a:xfrm>
            <a:off x="1651000" y="4902200"/>
            <a:ext cx="9652000" cy="369332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IN" b="1">
                <a:solidFill>
                  <a:srgbClr val="212121"/>
                </a:solidFill>
                <a:latin typeface="Segoe UI" panose="020B0502040204020203" pitchFamily="34" charset="0"/>
              </a:rPr>
              <a:t>Testing Strategy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F35B71D-9476-5E5B-02A4-CE65617E12CF}"/>
              </a:ext>
            </a:extLst>
          </p:cNvPr>
          <p:cNvSpPr txBox="1"/>
          <p:nvPr/>
        </p:nvSpPr>
        <p:spPr>
          <a:xfrm>
            <a:off x="9652000" y="6350000"/>
            <a:ext cx="1905000" cy="276999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r"/>
            <a:r>
              <a:rPr lang="en-IN" sz="1200" b="1">
                <a:solidFill>
                  <a:srgbClr val="386EEB"/>
                </a:solidFill>
                <a:latin typeface="Segoe UI" panose="020B0502040204020203" pitchFamily="34" charset="0"/>
              </a:rPr>
              <a:t>HCLTech</a:t>
            </a:r>
          </a:p>
        </p:txBody>
      </p:sp>
    </p:spTree>
    <p:extLst>
      <p:ext uri="{BB962C8B-B14F-4D97-AF65-F5344CB8AC3E}">
        <p14:creationId xmlns:p14="http://schemas.microsoft.com/office/powerpoint/2010/main" val="97525394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5A1E930-69FA-F812-B95B-AD9558853439}"/>
              </a:ext>
            </a:extLst>
          </p:cNvPr>
          <p:cNvSpPr txBox="1"/>
          <p:nvPr/>
        </p:nvSpPr>
        <p:spPr>
          <a:xfrm>
            <a:off x="711200" y="508000"/>
            <a:ext cx="10795000" cy="553998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IN" sz="3000" b="1">
                <a:solidFill>
                  <a:srgbClr val="212121"/>
                </a:solidFill>
                <a:latin typeface="Segoe UI" panose="020B0502040204020203" pitchFamily="34" charset="0"/>
              </a:rPr>
              <a:t>Architecture Design &amp; Decisions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408EA7A-0C49-6D08-580C-F2E2D65F29EC}"/>
              </a:ext>
            </a:extLst>
          </p:cNvPr>
          <p:cNvSpPr/>
          <p:nvPr/>
        </p:nvSpPr>
        <p:spPr>
          <a:xfrm>
            <a:off x="736600" y="1320800"/>
            <a:ext cx="1524000" cy="50800"/>
          </a:xfrm>
          <a:prstGeom prst="rect">
            <a:avLst/>
          </a:prstGeom>
          <a:solidFill>
            <a:srgbClr val="662D91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27149A3-7368-A2A8-109E-839353AF8BC0}"/>
              </a:ext>
            </a:extLst>
          </p:cNvPr>
          <p:cNvSpPr txBox="1"/>
          <p:nvPr/>
        </p:nvSpPr>
        <p:spPr>
          <a:xfrm>
            <a:off x="736600" y="1651000"/>
            <a:ext cx="10795000" cy="3067506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marL="342900" indent="-342900">
              <a:spcAft>
                <a:spcPts val="1000"/>
              </a:spcAft>
              <a:buFont typeface="+mj-lt"/>
              <a:buChar char="•"/>
            </a:pPr>
            <a:r>
              <a:rPr lang="en-IN" sz="1600">
                <a:solidFill>
                  <a:srgbClr val="212121"/>
                </a:solidFill>
                <a:latin typeface="Segoe UI" panose="020B0502040204020203" pitchFamily="34" charset="0"/>
              </a:rPr>
              <a:t>Layered architecture with a domain core - dependencies point inward: api -&gt; service -&gt; domain, and infrastructure -&gt; domain.</a:t>
            </a:r>
          </a:p>
          <a:p>
            <a:pPr marL="342900" indent="-342900">
              <a:spcAft>
                <a:spcPts val="1000"/>
              </a:spcAft>
              <a:buFont typeface="+mj-lt"/>
              <a:buChar char="•"/>
            </a:pPr>
            <a:r>
              <a:rPr lang="en-IN" sz="1600">
                <a:solidFill>
                  <a:srgbClr val="212121"/>
                </a:solidFill>
                <a:latin typeface="Segoe UI" panose="020B0502040204020203" pitchFamily="34" charset="0"/>
              </a:rPr>
              <a:t>Domain layer is framework-free (pure business models). DTOs never leave api and JPA entities never leave infrastructure; only domain models cross boundaries, via explicit mappers.</a:t>
            </a:r>
          </a:p>
          <a:p>
            <a:pPr marL="342900" indent="-342900">
              <a:spcAft>
                <a:spcPts val="1000"/>
              </a:spcAft>
              <a:buFont typeface="+mj-lt"/>
              <a:buChar char="•"/>
            </a:pPr>
            <a:r>
              <a:rPr lang="en-IN" sz="1600">
                <a:solidFill>
                  <a:srgbClr val="212121"/>
                </a:solidFill>
                <a:latin typeface="Segoe UI" panose="020B0502040204020203" pitchFamily="34" charset="0"/>
              </a:rPr>
              <a:t>Packages: api (controller, dto, mapper, exception) - service - domain.models - infrastructure.persistence (repository, entity, mapper) - config - common.</a:t>
            </a:r>
          </a:p>
          <a:p>
            <a:pPr marL="342900" indent="-342900">
              <a:spcAft>
                <a:spcPts val="1000"/>
              </a:spcAft>
              <a:buFont typeface="+mj-lt"/>
              <a:buChar char="•"/>
            </a:pPr>
            <a:r>
              <a:rPr lang="en-IN" sz="1600">
                <a:solidFill>
                  <a:srgbClr val="212121"/>
                </a:solidFill>
                <a:latin typeface="Segoe UI" panose="020B0502040204020203" pitchFamily="34" charset="0"/>
              </a:rPr>
              <a:t>Tech stack: Java 21, Spring Boot 3.4.1, Spring Data JPA, H2 in-memory (swappable for PostgreSQL), springdoc-openapi, Lombok, JUnit 5.</a:t>
            </a:r>
          </a:p>
          <a:p>
            <a:pPr marL="342900" indent="-342900">
              <a:spcAft>
                <a:spcPts val="1000"/>
              </a:spcAft>
              <a:buFont typeface="+mj-lt"/>
              <a:buChar char="•"/>
            </a:pPr>
            <a:r>
              <a:rPr lang="en-IN" sz="1600">
                <a:solidFill>
                  <a:srgbClr val="212121"/>
                </a:solidFill>
                <a:latin typeface="Segoe UI" panose="020B0502040204020203" pitchFamily="34" charset="0"/>
              </a:rPr>
              <a:t>Key decisions: contract-first OpenAPI as the source of truth; centralized error handling via @RestControllerAdvice; dynamic filtering via JPA Specifications; thin controllers with business logic in the service layer.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9265F65-51B4-A3D1-2D65-62C7AED43418}"/>
              </a:ext>
            </a:extLst>
          </p:cNvPr>
          <p:cNvSpPr txBox="1"/>
          <p:nvPr/>
        </p:nvSpPr>
        <p:spPr>
          <a:xfrm>
            <a:off x="9652000" y="6350000"/>
            <a:ext cx="1905000" cy="276999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r"/>
            <a:r>
              <a:rPr lang="en-IN" sz="1200" b="1">
                <a:solidFill>
                  <a:srgbClr val="386EEB"/>
                </a:solidFill>
                <a:latin typeface="Segoe UI" panose="020B0502040204020203" pitchFamily="34" charset="0"/>
              </a:rPr>
              <a:t>HCLTech</a:t>
            </a:r>
          </a:p>
        </p:txBody>
      </p:sp>
    </p:spTree>
    <p:extLst>
      <p:ext uri="{BB962C8B-B14F-4D97-AF65-F5344CB8AC3E}">
        <p14:creationId xmlns:p14="http://schemas.microsoft.com/office/powerpoint/2010/main" val="145224144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765F1C9-9F25-09A2-FF17-63DE93883802}"/>
              </a:ext>
            </a:extLst>
          </p:cNvPr>
          <p:cNvSpPr txBox="1"/>
          <p:nvPr/>
        </p:nvSpPr>
        <p:spPr>
          <a:xfrm>
            <a:off x="711200" y="508000"/>
            <a:ext cx="10795000" cy="553998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IN" sz="3000" b="1">
                <a:solidFill>
                  <a:srgbClr val="212121"/>
                </a:solidFill>
                <a:latin typeface="Segoe UI" panose="020B0502040204020203" pitchFamily="34" charset="0"/>
              </a:rPr>
              <a:t>GIT details &amp; working platform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68D1640-B9EF-2C84-828A-2BFC8D948890}"/>
              </a:ext>
            </a:extLst>
          </p:cNvPr>
          <p:cNvSpPr/>
          <p:nvPr/>
        </p:nvSpPr>
        <p:spPr>
          <a:xfrm>
            <a:off x="736600" y="1320800"/>
            <a:ext cx="1524000" cy="50800"/>
          </a:xfrm>
          <a:prstGeom prst="rect">
            <a:avLst/>
          </a:prstGeom>
          <a:solidFill>
            <a:srgbClr val="662D91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D08E694-8E64-6108-F801-0BF1A9F48F81}"/>
              </a:ext>
            </a:extLst>
          </p:cNvPr>
          <p:cNvSpPr txBox="1"/>
          <p:nvPr/>
        </p:nvSpPr>
        <p:spPr>
          <a:xfrm>
            <a:off x="736600" y="1651000"/>
            <a:ext cx="10795000" cy="2575064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marL="342900" indent="-342900">
              <a:spcAft>
                <a:spcPts val="1000"/>
              </a:spcAft>
              <a:buFont typeface="+mj-lt"/>
              <a:buChar char="•"/>
            </a:pPr>
            <a:r>
              <a:rPr lang="en-IN" sz="1600">
                <a:solidFill>
                  <a:srgbClr val="212121"/>
                </a:solidFill>
                <a:latin typeface="Segoe UI" panose="020B0502040204020203" pitchFamily="34" charset="0"/>
              </a:rPr>
              <a:t>Build &amp; run: Maven project (sunday-discussions-api) on JDK 21; launched with ./mvnw spring-boot:run on embedded Tomcat.</a:t>
            </a:r>
          </a:p>
          <a:p>
            <a:pPr marL="342900" indent="-342900">
              <a:spcAft>
                <a:spcPts val="1000"/>
              </a:spcAft>
              <a:buFont typeface="+mj-lt"/>
              <a:buChar char="•"/>
            </a:pPr>
            <a:r>
              <a:rPr lang="en-IN" sz="1600">
                <a:solidFill>
                  <a:srgbClr val="212121"/>
                </a:solidFill>
                <a:latin typeface="Segoe UI" panose="020B0502040204020203" pitchFamily="34" charset="0"/>
              </a:rPr>
              <a:t>AI working platform: Claude Code (Claude Opus 4.8) inside the VS Code extension on Windows 11.</a:t>
            </a:r>
          </a:p>
          <a:p>
            <a:pPr marL="342900" indent="-342900">
              <a:spcAft>
                <a:spcPts val="1000"/>
              </a:spcAft>
              <a:buFont typeface="+mj-lt"/>
              <a:buChar char="•"/>
            </a:pPr>
            <a:r>
              <a:rPr lang="en-IN" sz="1600">
                <a:solidFill>
                  <a:srgbClr val="212121"/>
                </a:solidFill>
                <a:latin typeface="Segoe UI" panose="020B0502040204020203" pitchFamily="34" charset="0"/>
              </a:rPr>
              <a:t>Governance-as-code: .claude/rules (java-code-style, logging, testing, architecture) applied on every generation; .claude/context holds requirements, tech-stack and the AI journal.</a:t>
            </a:r>
          </a:p>
          <a:p>
            <a:pPr marL="342900" indent="-342900">
              <a:spcAft>
                <a:spcPts val="1000"/>
              </a:spcAft>
              <a:buFont typeface="+mj-lt"/>
              <a:buChar char="•"/>
            </a:pPr>
            <a:r>
              <a:rPr lang="en-IN" sz="1600">
                <a:solidFill>
                  <a:srgbClr val="212121"/>
                </a:solidFill>
                <a:latin typeface="Segoe UI" panose="020B0502040204020203" pitchFamily="34" charset="0"/>
              </a:rPr>
              <a:t>Repository layout: src/main (api, domain, service, infrastructure), src/test, k6/ load tests, OpenAPI spec under resources/static/openapi, seed data in data.sql.</a:t>
            </a:r>
          </a:p>
          <a:p>
            <a:pPr marL="342900" indent="-342900">
              <a:spcAft>
                <a:spcPts val="1000"/>
              </a:spcAft>
              <a:buFont typeface="+mj-lt"/>
              <a:buChar char="•"/>
            </a:pPr>
            <a:r>
              <a:rPr lang="en-IN" sz="1600">
                <a:solidFill>
                  <a:srgbClr val="212121"/>
                </a:solidFill>
                <a:latin typeface="Segoe UI" panose="020B0502040204020203" pitchFamily="34" charset="0"/>
              </a:rPr>
              <a:t>Git remote / branch: &lt;add repository URL and branch here&gt;.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0910CEF-B80A-B544-E53B-6253E3367BBC}"/>
              </a:ext>
            </a:extLst>
          </p:cNvPr>
          <p:cNvSpPr txBox="1"/>
          <p:nvPr/>
        </p:nvSpPr>
        <p:spPr>
          <a:xfrm>
            <a:off x="9652000" y="6350000"/>
            <a:ext cx="1905000" cy="276999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r"/>
            <a:r>
              <a:rPr lang="en-IN" sz="1200" b="1">
                <a:solidFill>
                  <a:srgbClr val="386EEB"/>
                </a:solidFill>
                <a:latin typeface="Segoe UI" panose="020B0502040204020203" pitchFamily="34" charset="0"/>
              </a:rPr>
              <a:t>HCLTech</a:t>
            </a:r>
          </a:p>
        </p:txBody>
      </p:sp>
    </p:spTree>
    <p:extLst>
      <p:ext uri="{BB962C8B-B14F-4D97-AF65-F5344CB8AC3E}">
        <p14:creationId xmlns:p14="http://schemas.microsoft.com/office/powerpoint/2010/main" val="174768379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AD883F7-6ACE-B27C-B598-F455FB3076A3}"/>
              </a:ext>
            </a:extLst>
          </p:cNvPr>
          <p:cNvSpPr txBox="1"/>
          <p:nvPr/>
        </p:nvSpPr>
        <p:spPr>
          <a:xfrm>
            <a:off x="711200" y="508000"/>
            <a:ext cx="10795000" cy="553998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IN" sz="3000" b="1">
                <a:solidFill>
                  <a:srgbClr val="212121"/>
                </a:solidFill>
                <a:latin typeface="Segoe UI" panose="020B0502040204020203" pitchFamily="34" charset="0"/>
              </a:rPr>
              <a:t>API Specification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2F090B7-AC4B-8B4A-2016-88C7E29B1405}"/>
              </a:ext>
            </a:extLst>
          </p:cNvPr>
          <p:cNvSpPr/>
          <p:nvPr/>
        </p:nvSpPr>
        <p:spPr>
          <a:xfrm>
            <a:off x="736600" y="1320800"/>
            <a:ext cx="1524000" cy="50800"/>
          </a:xfrm>
          <a:prstGeom prst="rect">
            <a:avLst/>
          </a:prstGeom>
          <a:solidFill>
            <a:srgbClr val="662D91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42994A2-DA14-67FD-1509-73824FF82B67}"/>
              </a:ext>
            </a:extLst>
          </p:cNvPr>
          <p:cNvSpPr txBox="1"/>
          <p:nvPr/>
        </p:nvSpPr>
        <p:spPr>
          <a:xfrm>
            <a:off x="736600" y="1651000"/>
            <a:ext cx="10795000" cy="2949525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marL="342900" indent="-342900">
              <a:spcAft>
                <a:spcPts val="1000"/>
              </a:spcAft>
              <a:buFont typeface="+mj-lt"/>
              <a:buChar char="•"/>
            </a:pPr>
            <a:r>
              <a:rPr lang="en-IN" sz="1600">
                <a:solidFill>
                  <a:srgbClr val="212121"/>
                </a:solidFill>
                <a:latin typeface="Segoe UI" panose="020B0502040204020203" pitchFamily="34" charset="0"/>
              </a:rPr>
              <a:t>Contract-first OpenAPI 3.0.3 (policies-api.yaml), browsable via Swagger UI at /swagger-ui.html.</a:t>
            </a:r>
          </a:p>
          <a:p>
            <a:pPr marL="342900" indent="-342900">
              <a:spcAft>
                <a:spcPts val="1000"/>
              </a:spcAft>
              <a:buFont typeface="+mj-lt"/>
              <a:buChar char="•"/>
            </a:pPr>
            <a:r>
              <a:rPr lang="en-IN" sz="1600">
                <a:solidFill>
                  <a:srgbClr val="212121"/>
                </a:solidFill>
                <a:latin typeface="Segoe UI" panose="020B0502040204020203" pitchFamily="34" charset="0"/>
              </a:rPr>
              <a:t>GET /api/v1/policies - paginated list; filters by status, lineOfBusiness, region and effectiveDate range; free-text search over number / holder / underwriter; sorting.</a:t>
            </a:r>
          </a:p>
          <a:p>
            <a:pPr marL="342900" indent="-342900">
              <a:spcAft>
                <a:spcPts val="1000"/>
              </a:spcAft>
              <a:buFont typeface="+mj-lt"/>
              <a:buChar char="•"/>
            </a:pPr>
            <a:r>
              <a:rPr lang="en-IN" sz="1600">
                <a:solidFill>
                  <a:srgbClr val="212121"/>
                </a:solidFill>
                <a:latin typeface="Segoe UI" panose="020B0502040204020203" pitchFamily="34" charset="0"/>
              </a:rPr>
              <a:t>GET /api/v1/policies/{id} - single policy; returns 404 when not found.</a:t>
            </a:r>
          </a:p>
          <a:p>
            <a:pPr marL="342900" indent="-342900">
              <a:spcAft>
                <a:spcPts val="1000"/>
              </a:spcAft>
              <a:buFont typeface="+mj-lt"/>
              <a:buChar char="•"/>
            </a:pPr>
            <a:r>
              <a:rPr lang="en-IN" sz="1600">
                <a:solidFill>
                  <a:srgbClr val="212121"/>
                </a:solidFill>
                <a:latin typeface="Segoe UI" panose="020B0502040204020203" pitchFamily="34" charset="0"/>
              </a:rPr>
              <a:t>PATCH /api/v1/policies/flag - bulk flag policies for review (array of IDs); returns requested / flagged / missing counts.</a:t>
            </a:r>
          </a:p>
          <a:p>
            <a:pPr marL="342900" indent="-342900">
              <a:spcAft>
                <a:spcPts val="1000"/>
              </a:spcAft>
              <a:buFont typeface="+mj-lt"/>
              <a:buChar char="•"/>
            </a:pPr>
            <a:r>
              <a:rPr lang="en-IN" sz="1600">
                <a:solidFill>
                  <a:srgbClr val="212121"/>
                </a:solidFill>
                <a:latin typeface="Segoe UI" panose="020B0502040204020203" pitchFamily="34" charset="0"/>
              </a:rPr>
              <a:t>GET /api/v1/policies/summary - counts by status, total premium by line of business, expiring-soon count.</a:t>
            </a:r>
          </a:p>
          <a:p>
            <a:pPr marL="342900" indent="-342900">
              <a:spcAft>
                <a:spcPts val="1000"/>
              </a:spcAft>
              <a:buFont typeface="+mj-lt"/>
              <a:buChar char="•"/>
            </a:pPr>
            <a:r>
              <a:rPr lang="en-IN" sz="1600">
                <a:solidFill>
                  <a:srgbClr val="212121"/>
                </a:solidFill>
                <a:latin typeface="Segoe UI" panose="020B0502040204020203" pitchFamily="34" charset="0"/>
              </a:rPr>
              <a:t>Frontend-friendly transforms: status &amp; region display names, Money (amount + currency), isExpiringSoon (&lt;= 30 days). Errors via ErrorResponse (400 / 404 / 503), no stack traces leaked.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43D7680-89E4-1542-7DAA-B7831512C877}"/>
              </a:ext>
            </a:extLst>
          </p:cNvPr>
          <p:cNvSpPr txBox="1"/>
          <p:nvPr/>
        </p:nvSpPr>
        <p:spPr>
          <a:xfrm>
            <a:off x="9652000" y="6350000"/>
            <a:ext cx="1905000" cy="276999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r"/>
            <a:r>
              <a:rPr lang="en-IN" sz="1200" b="1">
                <a:solidFill>
                  <a:srgbClr val="386EEB"/>
                </a:solidFill>
                <a:latin typeface="Segoe UI" panose="020B0502040204020203" pitchFamily="34" charset="0"/>
              </a:rPr>
              <a:t>HCLTech</a:t>
            </a:r>
          </a:p>
        </p:txBody>
      </p:sp>
    </p:spTree>
    <p:extLst>
      <p:ext uri="{BB962C8B-B14F-4D97-AF65-F5344CB8AC3E}">
        <p14:creationId xmlns:p14="http://schemas.microsoft.com/office/powerpoint/2010/main" val="95692519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EAC5029-3898-54ED-B54B-422D84BCA661}"/>
              </a:ext>
            </a:extLst>
          </p:cNvPr>
          <p:cNvSpPr txBox="1"/>
          <p:nvPr/>
        </p:nvSpPr>
        <p:spPr>
          <a:xfrm>
            <a:off x="711200" y="508000"/>
            <a:ext cx="10795000" cy="553998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IN" sz="3000" b="1">
                <a:solidFill>
                  <a:srgbClr val="212121"/>
                </a:solidFill>
                <a:latin typeface="Segoe UI" panose="020B0502040204020203" pitchFamily="34" charset="0"/>
              </a:rPr>
              <a:t>AI Working Journal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2542832-1495-C125-5F25-8B3AD26CA60F}"/>
              </a:ext>
            </a:extLst>
          </p:cNvPr>
          <p:cNvSpPr/>
          <p:nvPr/>
        </p:nvSpPr>
        <p:spPr>
          <a:xfrm>
            <a:off x="736600" y="1320800"/>
            <a:ext cx="1524000" cy="50800"/>
          </a:xfrm>
          <a:prstGeom prst="rect">
            <a:avLst/>
          </a:prstGeom>
          <a:solidFill>
            <a:srgbClr val="662D91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4ECEAB6-9207-6E0B-5789-6D4AFDB04028}"/>
              </a:ext>
            </a:extLst>
          </p:cNvPr>
          <p:cNvSpPr txBox="1"/>
          <p:nvPr/>
        </p:nvSpPr>
        <p:spPr>
          <a:xfrm>
            <a:off x="736600" y="1651000"/>
            <a:ext cx="10795000" cy="2821285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marL="342900" indent="-342900">
              <a:spcAft>
                <a:spcPts val="1000"/>
              </a:spcAft>
              <a:buFont typeface="+mj-lt"/>
              <a:buChar char="•"/>
            </a:pPr>
            <a:r>
              <a:rPr lang="en-US" sz="1600">
                <a:solidFill>
                  <a:srgbClr val="212121"/>
                </a:solidFill>
                <a:latin typeface="Segoe UI" panose="020B0502040204020203" pitchFamily="34" charset="0"/>
              </a:rPr>
              <a:t>ai-journal.md logs every prompt: when it was asked, what was asked, what was done, and the outcome (accepted / rejected / challenged).</a:t>
            </a:r>
          </a:p>
          <a:p>
            <a:pPr marL="342900" indent="-342900">
              <a:spcAft>
                <a:spcPts val="1000"/>
              </a:spcAft>
              <a:buFont typeface="+mj-lt"/>
              <a:buChar char="•"/>
            </a:pPr>
            <a:r>
              <a:rPr lang="en-US" sz="1600">
                <a:solidFill>
                  <a:srgbClr val="212121"/>
                </a:solidFill>
                <a:latin typeface="Segoe UI" panose="020B0502040204020203" pitchFamily="34" charset="0"/>
              </a:rPr>
              <a:t>Rebuilt faithfully from the real Claude Code session transcripts (~/.claude/projects/**/*.jsonl) - not reconstructed from the code.</a:t>
            </a:r>
          </a:p>
          <a:p>
            <a:pPr marL="342900" indent="-342900">
              <a:spcAft>
                <a:spcPts val="1000"/>
              </a:spcAft>
              <a:buFont typeface="+mj-lt"/>
              <a:buChar char="•"/>
            </a:pPr>
            <a:r>
              <a:rPr lang="en-US" sz="1600">
                <a:solidFill>
                  <a:srgbClr val="212121"/>
                </a:solidFill>
                <a:latin typeface="Segoe UI" panose="020B0502040204020203" pitchFamily="34" charset="0"/>
              </a:rPr>
              <a:t>53 entries spanning 2026-06-07 to 2026-06-09.</a:t>
            </a:r>
          </a:p>
          <a:p>
            <a:pPr marL="342900" indent="-342900">
              <a:spcAft>
                <a:spcPts val="1000"/>
              </a:spcAft>
              <a:buFont typeface="+mj-lt"/>
              <a:buChar char="•"/>
            </a:pPr>
            <a:r>
              <a:rPr lang="en-US" sz="1600">
                <a:solidFill>
                  <a:srgbClr val="212121"/>
                </a:solidFill>
                <a:latin typeface="Segoe UI" panose="020B0502040204020203" pitchFamily="34" charset="0"/>
              </a:rPr>
              <a:t>Trail: rules &amp; tech-stack setup -&gt; contract-first OpenAPI -&gt; domain / service / api layers -&gt; H2 + seed data -&gt; exception handling -&gt; unit &amp; integration tests -&gt; k6 performance -&gt; vulnerability check.</a:t>
            </a:r>
          </a:p>
          <a:p>
            <a:pPr marL="342900" indent="-342900">
              <a:spcAft>
                <a:spcPts val="1000"/>
              </a:spcAft>
              <a:buFont typeface="+mj-lt"/>
              <a:buChar char="•"/>
            </a:pPr>
            <a:r>
              <a:rPr lang="en-US" sz="1600">
                <a:solidFill>
                  <a:srgbClr val="212121"/>
                </a:solidFill>
                <a:latin typeface="Segoe UI" panose="020B0502040204020203" pitchFamily="34" charset="0"/>
              </a:rPr>
              <a:t>Captures real iteration and course-corrections: duplicate-entity cleanup, Lombok @Builder fix, and the '204 but flag not updating' fix.</a:t>
            </a:r>
            <a:endParaRPr lang="en-IN" sz="1600">
              <a:solidFill>
                <a:srgbClr val="212121"/>
              </a:solidFill>
              <a:latin typeface="Segoe UI" panose="020B050204020402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373A4D0-CAB4-D217-C165-9BCA2014B094}"/>
              </a:ext>
            </a:extLst>
          </p:cNvPr>
          <p:cNvSpPr txBox="1"/>
          <p:nvPr/>
        </p:nvSpPr>
        <p:spPr>
          <a:xfrm>
            <a:off x="9652000" y="6350000"/>
            <a:ext cx="1905000" cy="276999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r"/>
            <a:r>
              <a:rPr lang="en-IN" sz="1200" b="1">
                <a:solidFill>
                  <a:srgbClr val="386EEB"/>
                </a:solidFill>
                <a:latin typeface="Segoe UI" panose="020B0502040204020203" pitchFamily="34" charset="0"/>
              </a:rPr>
              <a:t>HCLTech</a:t>
            </a:r>
          </a:p>
        </p:txBody>
      </p:sp>
    </p:spTree>
    <p:extLst>
      <p:ext uri="{BB962C8B-B14F-4D97-AF65-F5344CB8AC3E}">
        <p14:creationId xmlns:p14="http://schemas.microsoft.com/office/powerpoint/2010/main" val="333350367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CDD338D-769A-84AC-DBF3-237774DB16E4}"/>
              </a:ext>
            </a:extLst>
          </p:cNvPr>
          <p:cNvSpPr txBox="1"/>
          <p:nvPr/>
        </p:nvSpPr>
        <p:spPr>
          <a:xfrm>
            <a:off x="711200" y="508000"/>
            <a:ext cx="10795000" cy="553998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IN" sz="3000" b="1">
                <a:solidFill>
                  <a:srgbClr val="212121"/>
                </a:solidFill>
                <a:latin typeface="Segoe UI" panose="020B0502040204020203" pitchFamily="34" charset="0"/>
              </a:rPr>
              <a:t>Testing Strategy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62D88C1-0C1C-3113-D33E-FC8A4487ED7B}"/>
              </a:ext>
            </a:extLst>
          </p:cNvPr>
          <p:cNvSpPr/>
          <p:nvPr/>
        </p:nvSpPr>
        <p:spPr>
          <a:xfrm>
            <a:off x="736600" y="1320800"/>
            <a:ext cx="1524000" cy="50800"/>
          </a:xfrm>
          <a:prstGeom prst="rect">
            <a:avLst/>
          </a:prstGeom>
          <a:solidFill>
            <a:srgbClr val="662D91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F02412C-A00F-D612-46EF-3CA8D3682ABE}"/>
              </a:ext>
            </a:extLst>
          </p:cNvPr>
          <p:cNvSpPr txBox="1"/>
          <p:nvPr/>
        </p:nvSpPr>
        <p:spPr>
          <a:xfrm>
            <a:off x="736600" y="1651000"/>
            <a:ext cx="10795000" cy="2082621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marL="342900" indent="-342900">
              <a:spcAft>
                <a:spcPts val="1000"/>
              </a:spcAft>
              <a:buFont typeface="+mj-lt"/>
              <a:buChar char="•"/>
            </a:pPr>
            <a:r>
              <a:rPr lang="en-IN" sz="1600">
                <a:solidFill>
                  <a:srgbClr val="212121"/>
                </a:solidFill>
                <a:latin typeface="Segoe UI" panose="020B0502040204020203" pitchFamily="34" charset="0"/>
              </a:rPr>
              <a:t>Unit: PolicyServiceTest (business logic with a mocked repository) and PolicyControllerTest (MockMvc web layer).</a:t>
            </a:r>
          </a:p>
          <a:p>
            <a:pPr marL="342900" indent="-342900">
              <a:spcAft>
                <a:spcPts val="1000"/>
              </a:spcAft>
              <a:buFont typeface="+mj-lt"/>
              <a:buChar char="•"/>
            </a:pPr>
            <a:r>
              <a:rPr lang="en-IN" sz="1600">
                <a:solidFill>
                  <a:srgbClr val="212121"/>
                </a:solidFill>
                <a:latin typeface="Segoe UI" panose="020B0502040204020203" pitchFamily="34" charset="0"/>
              </a:rPr>
              <a:t>Integration: PolicyRepositoryIntegrationTest (@DataJpaTest against H2 - specifications and aggregate queries).</a:t>
            </a:r>
          </a:p>
          <a:p>
            <a:pPr marL="342900" indent="-342900">
              <a:spcAft>
                <a:spcPts val="1000"/>
              </a:spcAft>
              <a:buFont typeface="+mj-lt"/>
              <a:buChar char="•"/>
            </a:pPr>
            <a:r>
              <a:rPr lang="en-IN" sz="1600">
                <a:solidFill>
                  <a:srgbClr val="212121"/>
                </a:solidFill>
                <a:latin typeface="Segoe UI" panose="020B0502040204020203" pitchFamily="34" charset="0"/>
              </a:rPr>
              <a:t>Smoke: ChubAssessmentApplicationTests verifies the Spring context loads.</a:t>
            </a:r>
          </a:p>
          <a:p>
            <a:pPr marL="342900" indent="-342900">
              <a:spcAft>
                <a:spcPts val="1000"/>
              </a:spcAft>
              <a:buFont typeface="+mj-lt"/>
              <a:buChar char="•"/>
            </a:pPr>
            <a:r>
              <a:rPr lang="en-IN" sz="1600">
                <a:solidFill>
                  <a:srgbClr val="212121"/>
                </a:solidFill>
                <a:latin typeface="Segoe UI" panose="020B0502040204020203" pitchFamily="34" charset="0"/>
              </a:rPr>
              <a:t>Performance: k6 load test validates AC7 - p95 &lt; 500ms at 50 concurrent VUs with error rate &lt; 1% (CI-gateable thresholds).</a:t>
            </a:r>
          </a:p>
          <a:p>
            <a:pPr marL="342900" indent="-342900">
              <a:spcAft>
                <a:spcPts val="1000"/>
              </a:spcAft>
              <a:buFont typeface="+mj-lt"/>
              <a:buChar char="•"/>
            </a:pPr>
            <a:r>
              <a:rPr lang="en-IN" sz="1600">
                <a:solidFill>
                  <a:srgbClr val="212121"/>
                </a:solidFill>
                <a:latin typeface="Segoe UI" panose="020B0502040204020203" pitchFamily="34" charset="0"/>
              </a:rPr>
              <a:t>Conventions per .claude/rules/testing.md: JUnit 5, given/when/then naming, unit + integration coverage.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4FF62CB-131C-DD80-6FA2-4548FCAD6E25}"/>
              </a:ext>
            </a:extLst>
          </p:cNvPr>
          <p:cNvSpPr txBox="1"/>
          <p:nvPr/>
        </p:nvSpPr>
        <p:spPr>
          <a:xfrm>
            <a:off x="9652000" y="6350000"/>
            <a:ext cx="1905000" cy="276999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r"/>
            <a:r>
              <a:rPr lang="en-IN" sz="1200" b="1">
                <a:solidFill>
                  <a:srgbClr val="386EEB"/>
                </a:solidFill>
                <a:latin typeface="Segoe UI" panose="020B0502040204020203" pitchFamily="34" charset="0"/>
              </a:rPr>
              <a:t>HCLTech</a:t>
            </a:r>
          </a:p>
        </p:txBody>
      </p:sp>
    </p:spTree>
    <p:extLst>
      <p:ext uri="{BB962C8B-B14F-4D97-AF65-F5344CB8AC3E}">
        <p14:creationId xmlns:p14="http://schemas.microsoft.com/office/powerpoint/2010/main" val="312887746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B561BFF0-EB2F-8818-CB9D-47E4B70EA1D6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rgbClr val="5E2D91"/>
              </a:gs>
              <a:gs pos="100000">
                <a:srgbClr val="FFFFFF"/>
              </a:gs>
            </a:gsLst>
            <a:lin ang="5400000" scaled="1"/>
            <a:tileRect/>
          </a:gra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D41D43D-6C75-0E75-A9D5-E83EF0E0D557}"/>
              </a:ext>
            </a:extLst>
          </p:cNvPr>
          <p:cNvSpPr txBox="1"/>
          <p:nvPr/>
        </p:nvSpPr>
        <p:spPr>
          <a:xfrm>
            <a:off x="0" y="2921000"/>
            <a:ext cx="12192000" cy="553998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/>
            <a:r>
              <a:rPr lang="en-IN" sz="3000" b="1">
                <a:solidFill>
                  <a:srgbClr val="FFFFFF"/>
                </a:solidFill>
                <a:latin typeface="Segoe UI" panose="020B0502040204020203" pitchFamily="34" charset="0"/>
              </a:rPr>
              <a:t>HCLTech  |  Supercharging Progress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07035A1-2BAB-6483-F296-876B570F3AFA}"/>
              </a:ext>
            </a:extLst>
          </p:cNvPr>
          <p:cNvSpPr txBox="1"/>
          <p:nvPr/>
        </p:nvSpPr>
        <p:spPr>
          <a:xfrm>
            <a:off x="0" y="4064000"/>
            <a:ext cx="12192000" cy="338554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/>
            <a:r>
              <a:rPr lang="en-IN" sz="1600">
                <a:solidFill>
                  <a:srgbClr val="FFFFFF"/>
                </a:solidFill>
                <a:latin typeface="Segoe UI" panose="020B0502040204020203" pitchFamily="34" charset="0"/>
              </a:rPr>
              <a:t>hcltech.com</a:t>
            </a:r>
          </a:p>
        </p:txBody>
      </p:sp>
    </p:spTree>
    <p:extLst>
      <p:ext uri="{BB962C8B-B14F-4D97-AF65-F5344CB8AC3E}">
        <p14:creationId xmlns:p14="http://schemas.microsoft.com/office/powerpoint/2010/main" val="246377706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716</Words>
  <Application>Microsoft Office PowerPoint</Application>
  <PresentationFormat>Custom</PresentationFormat>
  <Paragraphs>56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Arial</vt:lpstr>
      <vt:lpstr>Calibri</vt:lpstr>
      <vt:lpstr>Calibri Light</vt:lpstr>
      <vt:lpstr>Segoe UI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pradeep kg</dc:creator>
  <cp:lastModifiedBy>pradeep kg</cp:lastModifiedBy>
  <cp:revision>1</cp:revision>
  <dcterms:created xsi:type="dcterms:W3CDTF">2026-06-09T23:49:17Z</dcterms:created>
  <dcterms:modified xsi:type="dcterms:W3CDTF">2026-06-09T23:49:17Z</dcterms:modified>
</cp:coreProperties>
</file>